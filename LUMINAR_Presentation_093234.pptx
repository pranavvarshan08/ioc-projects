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61" r:id="rId9"/>
    <p:sldId id="262" r:id="rId10"/>
    <p:sldId id="277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63FF"/>
    <a:srgbClr val="72528A"/>
    <a:srgbClr val="06D6A0"/>
    <a:srgbClr val="FF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ln cap="rnd">
              <a:round/>
            </a:ln>
          </c:spPr>
          <c:dPt>
            <c:idx val="0"/>
            <c:bubble3D val="0"/>
            <c:spPr>
              <a:solidFill>
                <a:schemeClr val="accent1"/>
              </a:solidFill>
              <a:ln w="19050" cap="rnd">
                <a:solidFill>
                  <a:schemeClr val="l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05-45AA-99CB-2632D3085CA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 cap="rnd">
                <a:solidFill>
                  <a:schemeClr val="l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05-45AA-99CB-2632D3085CA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 cap="rnd">
                <a:solidFill>
                  <a:schemeClr val="l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05-45AA-99CB-2632D3085CA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 cap="rnd">
                <a:solidFill>
                  <a:schemeClr val="l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05-45AA-99CB-2632D3085CA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 cap="rnd">
                <a:solidFill>
                  <a:schemeClr val="l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05-45AA-99CB-2632D3085CA4}"/>
              </c:ext>
            </c:extLst>
          </c:dPt>
          <c:dLbls>
            <c:dLbl>
              <c:idx val="0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05-45AA-99CB-2632D3085CA4}"/>
                </c:ext>
              </c:extLst>
            </c:dLbl>
            <c:dLbl>
              <c:idx val="1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05-45AA-99CB-2632D3085CA4}"/>
                </c:ext>
              </c:extLst>
            </c:dLbl>
            <c:dLbl>
              <c:idx val="2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05-45AA-99CB-2632D3085CA4}"/>
                </c:ext>
              </c:extLst>
            </c:dLbl>
            <c:dLbl>
              <c:idx val="3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05-45AA-99CB-2632D3085CA4}"/>
                </c:ext>
              </c:extLst>
            </c:dLbl>
            <c:dLbl>
              <c:idx val="4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E05-45AA-99CB-2632D3085CA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Personnel (60%)</c:v>
                </c:pt>
                <c:pt idx="1">
                  <c:v>R&amp;D Prototyping (25%)</c:v>
                </c:pt>
                <c:pt idx="2">
                  <c:v>Software &amp; Tools (5%)</c:v>
                </c:pt>
                <c:pt idx="3">
                  <c:v>Lab Equipment (5%)</c:v>
                </c:pt>
                <c:pt idx="4">
                  <c:v>Contingency (5%)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25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05-45AA-99CB-2632D3085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>
      <a:outerShdw blurRad="50800" dist="50800" dir="5400000" algn="ctr" rotWithShape="0">
        <a:schemeClr val="bg2">
          <a:lumMod val="90000"/>
        </a:schemeClr>
      </a:outerShdw>
      <a:softEdge rad="0"/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81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8421" y="1188720"/>
            <a:ext cx="4572000" cy="4572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35000"/>
            </a:scheme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62680" y="-228600"/>
            <a:ext cx="3200400" cy="3200400"/>
          </a:xfrm>
          <a:prstGeom prst="ellipse">
            <a:avLst/>
          </a:prstGeom>
          <a:solidFill>
            <a:schemeClr val="tx1">
              <a:lumMod val="75000"/>
              <a:lumOff val="25000"/>
              <a:alpha val="8000"/>
            </a:scheme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0" dirty="0">
                <a:gradFill flip="none" rotWithShape="1">
                  <a:gsLst>
                    <a:gs pos="76000">
                      <a:schemeClr val="tx1">
                        <a:lumMod val="95000"/>
                        <a:lumOff val="5000"/>
                      </a:schemeClr>
                    </a:gs>
                    <a:gs pos="100000">
                      <a:srgbClr val="B2C6E7"/>
                    </a:gs>
                    <a:gs pos="39000">
                      <a:srgbClr val="7030A0"/>
                    </a:gs>
                  </a:gsLst>
                  <a:lin ang="2700000" scaled="1"/>
                  <a:tileRect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>
              <a:gradFill flip="none" rotWithShape="1">
                <a:gsLst>
                  <a:gs pos="76000">
                    <a:schemeClr val="tx1">
                      <a:lumMod val="95000"/>
                      <a:lumOff val="5000"/>
                    </a:schemeClr>
                  </a:gs>
                  <a:gs pos="100000">
                    <a:srgbClr val="B2C6E7"/>
                  </a:gs>
                  <a:gs pos="39000">
                    <a:srgbClr val="7030A0"/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LUMINAR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Augmented Reality Data Projector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>
                    <a:lumMod val="75000"/>
                    <a:alpha val="93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Unseen. Directly on the World Around Us.</a:t>
            </a:r>
            <a:endParaRPr lang="en-US" sz="1400" dirty="0">
              <a:solidFill>
                <a:schemeClr val="accent5">
                  <a:lumMod val="75000"/>
                  <a:alpha val="93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030A0">
              <a:alpha val="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Vision to Viability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514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gradFill>
                  <a:gsLst>
                    <a:gs pos="0">
                      <a:srgbClr val="6C63FF"/>
                    </a:gs>
                    <a:gs pos="60000">
                      <a:srgbClr val="B2C6E7"/>
                    </a:gs>
                    <a:gs pos="64000">
                      <a:srgbClr val="7030A0"/>
                    </a:gs>
                    <a:gs pos="18000">
                      <a:schemeClr val="tx1">
                        <a:lumMod val="95000"/>
                        <a:lumOff val="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>
              <a:gradFill>
                <a:gsLst>
                  <a:gs pos="0">
                    <a:srgbClr val="6C63FF"/>
                  </a:gs>
                  <a:gs pos="60000">
                    <a:srgbClr val="B2C6E7"/>
                  </a:gs>
                  <a:gs pos="64000">
                    <a:srgbClr val="7030A0"/>
                  </a:gs>
                  <a:gs pos="18000">
                    <a:schemeClr val="tx1">
                      <a:lumMod val="95000"/>
                      <a:lumOff val="5000"/>
                    </a:schemeClr>
                  </a:gs>
                </a:gsLst>
                <a:path path="rect">
                  <a:fillToRect l="100000" t="100000"/>
                </a:path>
              </a:gra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is Trapped on Screens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4864" cy="640080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 is isolated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Thermal, structural, and logistical data confined to small, disconnected screens.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" cy="640080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Cognitive gap</a:t>
            </a:r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constantly look away from their work—creating errors and safety risks.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54864" cy="640080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barrier</a:t>
            </a:r>
          </a:p>
        </p:txBody>
      </p:sp>
      <p:sp>
        <p:nvSpPr>
          <p:cNvPr id="13" name="Text 11"/>
          <p:cNvSpPr/>
          <p:nvPr/>
        </p:nvSpPr>
        <p:spPr>
          <a:xfrm>
            <a:off x="658368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huddle around tiny screens, unable to share a common data view.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 headsets fall short</a:t>
            </a:r>
          </a:p>
        </p:txBody>
      </p:sp>
      <p:sp>
        <p:nvSpPr>
          <p:cNvPr id="16" name="Text 14"/>
          <p:cNvSpPr/>
          <p:nvPr/>
        </p:nvSpPr>
        <p:spPr>
          <a:xfrm>
            <a:off x="658368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cumbersome, isolating, and impractical in rugged field environments.</a:t>
            </a:r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chemeClr val="bg1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280160"/>
            <a:ext cx="1645920" cy="1463040"/>
          </a:xfrm>
          <a:prstGeom prst="rect">
            <a:avLst/>
          </a:prstGeom>
          <a:solidFill>
            <a:schemeClr val="bg1">
              <a:alpha val="74000"/>
            </a:scheme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👷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029200" y="2011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+ tablet</a:t>
            </a: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 = errors</a:t>
            </a: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1280160"/>
            <a:ext cx="1463040" cy="1463040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👥</a:t>
            </a:r>
          </a:p>
        </p:txBody>
      </p:sp>
      <p:sp>
        <p:nvSpPr>
          <p:cNvPr id="24" name="Text 22"/>
          <p:cNvSpPr/>
          <p:nvPr/>
        </p:nvSpPr>
        <p:spPr>
          <a:xfrm>
            <a:off x="704088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sharing</a:t>
            </a:r>
          </a:p>
          <a:p>
            <a:pPr algn="ctr"/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screens</a:t>
            </a:r>
          </a:p>
        </p:txBody>
      </p:sp>
      <p:sp>
        <p:nvSpPr>
          <p:cNvPr id="25" name="Shape 23"/>
          <p:cNvSpPr/>
          <p:nvPr/>
        </p:nvSpPr>
        <p:spPr>
          <a:xfrm>
            <a:off x="5029200" y="2880360"/>
            <a:ext cx="3474720" cy="1463040"/>
          </a:xfrm>
          <a:prstGeom prst="rect">
            <a:avLst/>
          </a:prstGeom>
          <a:solidFill>
            <a:schemeClr val="bg1">
              <a:alpha val="41000"/>
            </a:scheme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0861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</a:p>
        </p:txBody>
      </p:sp>
      <p:sp>
        <p:nvSpPr>
          <p:cNvPr id="27" name="Text 25"/>
          <p:cNvSpPr/>
          <p:nvPr/>
        </p:nvSpPr>
        <p:spPr>
          <a:xfrm>
            <a:off x="5029200" y="3246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Inefficiency  ·  Errors  ·  Safety Risks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Isolation  ·  High Cost  ·  Poor UX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84048"/>
            <a:ext cx="652417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gradFill>
                  <a:gsLst>
                    <a:gs pos="94000">
                      <a:srgbClr val="65943A"/>
                    </a:gs>
                    <a:gs pos="61000">
                      <a:schemeClr val="accent6">
                        <a:lumMod val="50000"/>
                      </a:schemeClr>
                    </a:gs>
                    <a:gs pos="27000">
                      <a:srgbClr val="92D050"/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400" dirty="0">
              <a:gradFill>
                <a:gsLst>
                  <a:gs pos="94000">
                    <a:srgbClr val="65943A"/>
                  </a:gs>
                  <a:gs pos="61000">
                    <a:schemeClr val="accent6">
                      <a:lumMod val="50000"/>
                    </a:schemeClr>
                  </a:gs>
                  <a:gs pos="27000">
                    <a:srgbClr val="92D050"/>
                  </a:gs>
                </a:gsLst>
                <a:path path="rect">
                  <a:fillToRect l="100000" t="100000"/>
                </a:path>
              </a:gra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14700" y="1438583"/>
            <a:ext cx="2560320" cy="2442102"/>
          </a:xfrm>
          <a:prstGeom prst="ellipse">
            <a:avLst/>
          </a:prstGeom>
          <a:solidFill>
            <a:srgbClr val="6C63FF">
              <a:alpha val="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63950" y="1775577"/>
            <a:ext cx="1849120" cy="17637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73500" y="2100548"/>
            <a:ext cx="1422400" cy="1017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🔮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274320" y="1161288"/>
            <a:ext cx="2773680" cy="941832"/>
          </a:xfrm>
          <a:prstGeom prst="rect">
            <a:avLst/>
          </a:prstGeom>
          <a:solidFill>
            <a:srgbClr val="6C63FF">
              <a:alpha val="45000"/>
            </a:srgbClr>
          </a:solidFill>
          <a:ln w="12700">
            <a:solidFill>
              <a:srgbClr val="FF6B6B"/>
            </a:solidFill>
            <a:prstDash val="solid"/>
          </a:ln>
          <a:effectLst>
            <a:softEdge rad="2540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20040" y="1438583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283861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Break data free from the screen</a:t>
            </a:r>
          </a:p>
        </p:txBody>
      </p:sp>
      <p:sp>
        <p:nvSpPr>
          <p:cNvPr id="11" name="Text 9"/>
          <p:cNvSpPr/>
          <p:nvPr/>
        </p:nvSpPr>
        <p:spPr>
          <a:xfrm>
            <a:off x="777240" y="154453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belongs in the world, not behind glass.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2773680" cy="941832"/>
          </a:xfrm>
          <a:prstGeom prst="rect">
            <a:avLst/>
          </a:prstGeom>
          <a:solidFill>
            <a:srgbClr val="6C63FF">
              <a:alpha val="64000"/>
            </a:srgbClr>
          </a:solidFill>
          <a:ln w="12700">
            <a:solidFill>
              <a:srgbClr val="FF6B6B"/>
            </a:solidFill>
            <a:prstDash val="solid"/>
          </a:ln>
          <a:effectLst>
            <a:softEdge rad="2540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320040" y="2651760"/>
            <a:ext cx="533400" cy="457200"/>
          </a:xfrm>
          <a:prstGeom prst="rect">
            <a:avLst/>
          </a:prstGeom>
          <a:solidFill>
            <a:schemeClr val="bg1">
              <a:lumMod val="50000"/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46888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spatial awareness</a:t>
            </a:r>
          </a:p>
        </p:txBody>
      </p:sp>
      <p:sp>
        <p:nvSpPr>
          <p:cNvPr id="15" name="Text 13"/>
          <p:cNvSpPr/>
          <p:nvPr/>
        </p:nvSpPr>
        <p:spPr>
          <a:xfrm>
            <a:off x="735330" y="2674620"/>
            <a:ext cx="2270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team sees, shares, and interacts with the same overlay—simultaneously.</a:t>
            </a:r>
          </a:p>
        </p:txBody>
      </p:sp>
      <p:sp>
        <p:nvSpPr>
          <p:cNvPr id="16" name="Shape 14"/>
          <p:cNvSpPr/>
          <p:nvPr/>
        </p:nvSpPr>
        <p:spPr>
          <a:xfrm>
            <a:off x="274320" y="3604623"/>
            <a:ext cx="2773680" cy="1154829"/>
          </a:xfrm>
          <a:prstGeom prst="rect">
            <a:avLst/>
          </a:prstGeom>
          <a:solidFill>
            <a:srgbClr val="6C63FF"/>
          </a:solidFill>
          <a:ln w="12700">
            <a:solidFill>
              <a:srgbClr val="FF6B6B"/>
            </a:solidFill>
            <a:prstDash val="solid"/>
          </a:ln>
          <a:effectLst>
            <a:softEdge rad="25400"/>
          </a:effectLst>
        </p:spPr>
      </p:sp>
      <p:sp>
        <p:nvSpPr>
          <p:cNvPr id="17" name="Text 15"/>
          <p:cNvSpPr/>
          <p:nvPr/>
        </p:nvSpPr>
        <p:spPr>
          <a:xfrm>
            <a:off x="320040" y="3880685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2186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&amp; collaborative by design</a:t>
            </a:r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2186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data that makes sense right where the work happens.</a:t>
            </a:r>
          </a:p>
        </p:txBody>
      </p:sp>
      <p:sp>
        <p:nvSpPr>
          <p:cNvPr id="20" name="Shape 18"/>
          <p:cNvSpPr/>
          <p:nvPr/>
        </p:nvSpPr>
        <p:spPr>
          <a:xfrm>
            <a:off x="6400800" y="1097280"/>
            <a:ext cx="256032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  <a:effectLst>
            <a:softEdge rad="31750"/>
          </a:effectLst>
        </p:spPr>
      </p:sp>
      <p:sp>
        <p:nvSpPr>
          <p:cNvPr id="21" name="Text 19"/>
          <p:cNvSpPr/>
          <p:nvPr/>
        </p:nvSpPr>
        <p:spPr>
          <a:xfrm>
            <a:off x="64922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a team could see, share, and interact with the same data overlay — in the same physical space — at the same time?"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4297680"/>
            <a:ext cx="2560320" cy="274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LUMINAR Promise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5823" y="45429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500" dirty="0">
                <a:gradFill>
                  <a:gsLst>
                    <a:gs pos="42000">
                      <a:srgbClr val="6C63FF"/>
                    </a:gs>
                    <a:gs pos="69000">
                      <a:srgbClr val="7030A0"/>
                    </a:gs>
                    <a:gs pos="80000">
                      <a:schemeClr val="tx1">
                        <a:lumMod val="95000"/>
                        <a:lumOff val="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2528A">
                    <a:alpha val="81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portable, handheld device that Scans, Analyzes, and Projects data directly onto any surface.</a:t>
            </a:r>
            <a:endParaRPr lang="en-US" sz="1300" dirty="0">
              <a:solidFill>
                <a:srgbClr val="72528A">
                  <a:alpha val="81000"/>
                </a:srgb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3200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📡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1737360" cy="0"/>
          </a:xfrm>
          <a:prstGeom prst="line">
            <a:avLst/>
          </a:prstGeom>
          <a:noFill/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· Infrared · RGB Camera</a:t>
            </a:r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geometry and properties of the environment with precision sensor arrays.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651760" cy="3200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🧠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0040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0" y="2926080"/>
            <a:ext cx="1737360" cy="0"/>
          </a:xfrm>
          <a:prstGeom prst="line">
            <a:avLst/>
          </a:prstGeom>
          <a:noFill/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0175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System on a Chip</a:t>
            </a:r>
          </a:p>
          <a:p>
            <a:pPr marL="0" indent="0" algn="ctr">
              <a:buNone/>
            </a:pPr>
            <a:endParaRPr lang="en-US" sz="1050" dirty="0"/>
          </a:p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SoC processes all sensor data in real-time with dedicated NPU acceleration.</a:t>
            </a:r>
          </a:p>
        </p:txBody>
      </p:sp>
      <p:sp>
        <p:nvSpPr>
          <p:cNvPr id="18" name="Shape 16"/>
          <p:cNvSpPr/>
          <p:nvPr/>
        </p:nvSpPr>
        <p:spPr>
          <a:xfrm>
            <a:off x="6035040" y="1600200"/>
            <a:ext cx="2651760" cy="3200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600200"/>
            <a:ext cx="26517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✨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03504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92240" y="2926080"/>
            <a:ext cx="1737360" cy="0"/>
          </a:xfrm>
          <a:prstGeom prst="line">
            <a:avLst/>
          </a:prstGeom>
          <a:noFill/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0175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Laser-based Pico Projector</a:t>
            </a:r>
          </a:p>
          <a:p>
            <a:pPr marL="0" indent="0" algn="ctr">
              <a:buNone/>
            </a:pPr>
            <a:endParaRPr lang="en-US" sz="1050" dirty="0"/>
          </a:p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High-definition overlay with perfect geometric alignment onto any surface.</a:t>
            </a:r>
          </a:p>
        </p:txBody>
      </p:sp>
      <p:sp>
        <p:nvSpPr>
          <p:cNvPr id="24" name="Text 22"/>
          <p:cNvSpPr/>
          <p:nvPr/>
        </p:nvSpPr>
        <p:spPr>
          <a:xfrm>
            <a:off x="2971800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06440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4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 kern="0" spc="500" dirty="0">
                <a:gradFill>
                  <a:gsLst>
                    <a:gs pos="42000">
                      <a:srgbClr val="6C63FF"/>
                    </a:gs>
                    <a:gs pos="69000">
                      <a:schemeClr val="accent1">
                        <a:lumMod val="60000"/>
                        <a:lumOff val="40000"/>
                      </a:schemeClr>
                    </a:gs>
                    <a:gs pos="80000">
                      <a:srgbClr val="0070C0"/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657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HARDWARE 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" y="1705164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Pico Projector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brightness, focus-free beam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326005"/>
            <a:ext cx="388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269617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/ LiDAR Depth Sensor</a:t>
            </a:r>
          </a:p>
        </p:txBody>
      </p:sp>
      <p:sp>
        <p:nvSpPr>
          <p:cNvPr id="13" name="Text 11"/>
          <p:cNvSpPr/>
          <p:nvPr/>
        </p:nvSpPr>
        <p:spPr>
          <a:xfrm>
            <a:off x="914400" y="2525649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spatial mapping</a:t>
            </a:r>
          </a:p>
        </p:txBody>
      </p:sp>
      <p:sp>
        <p:nvSpPr>
          <p:cNvPr id="14" name="Text 12"/>
          <p:cNvSpPr/>
          <p:nvPr/>
        </p:nvSpPr>
        <p:spPr>
          <a:xfrm>
            <a:off x="480060" y="2881691"/>
            <a:ext cx="38862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🌡️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1540" y="2842069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Sensor Bay</a:t>
            </a:r>
          </a:p>
        </p:txBody>
      </p:sp>
      <p:sp>
        <p:nvSpPr>
          <p:cNvPr id="16" name="Text 14"/>
          <p:cNvSpPr/>
          <p:nvPr/>
        </p:nvSpPr>
        <p:spPr>
          <a:xfrm>
            <a:off x="937260" y="3098101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IR/Thermal camera (swappable)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3437378"/>
            <a:ext cx="411480" cy="418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1540" y="3466909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SoC with GPU &amp; NPU</a:t>
            </a:r>
          </a:p>
        </p:txBody>
      </p:sp>
      <p:sp>
        <p:nvSpPr>
          <p:cNvPr id="19" name="Text 17"/>
          <p:cNvSpPr/>
          <p:nvPr/>
        </p:nvSpPr>
        <p:spPr>
          <a:xfrm>
            <a:off x="948690" y="374561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 power</a:t>
            </a:r>
          </a:p>
        </p:txBody>
      </p:sp>
      <p:sp>
        <p:nvSpPr>
          <p:cNvPr id="20" name="Text 18"/>
          <p:cNvSpPr/>
          <p:nvPr/>
        </p:nvSpPr>
        <p:spPr>
          <a:xfrm>
            <a:off x="491490" y="4018976"/>
            <a:ext cx="388620" cy="37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5830" y="403212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Battery</a:t>
            </a:r>
          </a:p>
        </p:txBody>
      </p:sp>
      <p:sp>
        <p:nvSpPr>
          <p:cNvPr id="22" name="Text 20"/>
          <p:cNvSpPr/>
          <p:nvPr/>
        </p:nvSpPr>
        <p:spPr>
          <a:xfrm>
            <a:off x="948690" y="4266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Field-replaceable high-density pack</a:t>
            </a:r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14800" cy="3657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4114800" cy="3474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SOFTWARE CORE (CS ENGINE)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739646"/>
            <a:ext cx="182880" cy="1828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66649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OS &amp; Firmware</a:t>
            </a:r>
          </a:p>
        </p:txBody>
      </p:sp>
      <p:sp>
        <p:nvSpPr>
          <p:cNvPr id="28" name="Text 26"/>
          <p:cNvSpPr/>
          <p:nvPr/>
        </p:nvSpPr>
        <p:spPr>
          <a:xfrm>
            <a:off x="5166360" y="192252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Lag-free hardware communication</a:t>
            </a:r>
          </a:p>
        </p:txBody>
      </p:sp>
      <p:sp>
        <p:nvSpPr>
          <p:cNvPr id="29" name="Shape 27"/>
          <p:cNvSpPr/>
          <p:nvPr/>
        </p:nvSpPr>
        <p:spPr>
          <a:xfrm>
            <a:off x="4846320" y="2336673"/>
            <a:ext cx="182880" cy="1828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263521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Engine</a:t>
            </a:r>
          </a:p>
        </p:txBody>
      </p:sp>
      <p:sp>
        <p:nvSpPr>
          <p:cNvPr id="31" name="Text 29"/>
          <p:cNvSpPr/>
          <p:nvPr/>
        </p:nvSpPr>
        <p:spPr>
          <a:xfrm>
            <a:off x="5143500" y="2525649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LiDAR, IR, and RGB streams</a:t>
            </a:r>
          </a:p>
        </p:txBody>
      </p:sp>
      <p:sp>
        <p:nvSpPr>
          <p:cNvPr id="32" name="Shape 30"/>
          <p:cNvSpPr/>
          <p:nvPr/>
        </p:nvSpPr>
        <p:spPr>
          <a:xfrm>
            <a:off x="4869180" y="2918650"/>
            <a:ext cx="182880" cy="1828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284549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Algorithm</a:t>
            </a:r>
          </a:p>
        </p:txBody>
      </p:sp>
      <p:sp>
        <p:nvSpPr>
          <p:cNvPr id="34" name="Text 32"/>
          <p:cNvSpPr/>
          <p:nvPr/>
        </p:nvSpPr>
        <p:spPr>
          <a:xfrm>
            <a:off x="5189220" y="310153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perception &amp; device positioning</a:t>
            </a:r>
          </a:p>
        </p:txBody>
      </p:sp>
      <p:sp>
        <p:nvSpPr>
          <p:cNvPr id="35" name="Shape 33"/>
          <p:cNvSpPr/>
          <p:nvPr/>
        </p:nvSpPr>
        <p:spPr>
          <a:xfrm>
            <a:off x="4846320" y="3549395"/>
            <a:ext cx="182880" cy="1828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476243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Mapping Module</a:t>
            </a:r>
          </a:p>
        </p:txBody>
      </p:sp>
      <p:sp>
        <p:nvSpPr>
          <p:cNvPr id="37" name="Text 35"/>
          <p:cNvSpPr/>
          <p:nvPr/>
        </p:nvSpPr>
        <p:spPr>
          <a:xfrm>
            <a:off x="5166360" y="3732275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Warps image to uneven surfaces in real-time</a:t>
            </a:r>
          </a:p>
        </p:txBody>
      </p:sp>
      <p:sp>
        <p:nvSpPr>
          <p:cNvPr id="38" name="Shape 36"/>
          <p:cNvSpPr/>
          <p:nvPr/>
        </p:nvSpPr>
        <p:spPr>
          <a:xfrm>
            <a:off x="4846320" y="4201285"/>
            <a:ext cx="182880" cy="1828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4128133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API</a:t>
            </a:r>
          </a:p>
        </p:txBody>
      </p:sp>
      <p:sp>
        <p:nvSpPr>
          <p:cNvPr id="40" name="Text 38"/>
          <p:cNvSpPr/>
          <p:nvPr/>
        </p:nvSpPr>
        <p:spPr>
          <a:xfrm>
            <a:off x="5166360" y="4384165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compelling '</a:t>
            </a:r>
            <a:r>
              <a:rPr lang="en-US" sz="1100" dirty="0" err="1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reinfographics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gradFill>
                  <a:gsLst>
                    <a:gs pos="42000">
                      <a:srgbClr val="6C63FF"/>
                    </a:gs>
                    <a:gs pos="69000">
                      <a:schemeClr val="accent1">
                        <a:lumMod val="60000"/>
                        <a:lumOff val="40000"/>
                      </a:schemeClr>
                    </a:gs>
                    <a:gs pos="80000">
                      <a:srgbClr val="0070C0"/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MUST DO — observable, testable behaviours expected by users and stakeholders.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658368" cy="2560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07008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Capture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74650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capture thermal, depth (LiDAR/ToF), and RGB data simultaneously at ≥ 30 fps with a maximum end-to-end pipeline latency of 100 ms.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325880"/>
            <a:ext cx="64008" cy="107899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417320"/>
            <a:ext cx="658368" cy="256032"/>
          </a:xfrm>
          <a:prstGeom prst="rect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173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33288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Projection Mapping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174650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geometrically warp the projected output to conform to arbitrary non-planar surfaces in real-time, using depth data for keystone and distortion correction.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1460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514600"/>
            <a:ext cx="64008" cy="10789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06040"/>
            <a:ext cx="658368" cy="256032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060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07008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Visualisation Overlay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293522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render a colour-coded thermal heat map (e.g. IRONBOW palette) aligned pixel-accurately to the physical object, with configurable temperature thresholds and alert colours.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51460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514600"/>
            <a:ext cx="64008" cy="10789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2606040"/>
            <a:ext cx="658368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060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33288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&amp; SLAM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83480" y="293522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fuse LiDAR, RGB, and IMU data streams using a Sensor Fusion Engine to maintain real-time 6-DoF pose estimation of the device relative to the scene.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703320"/>
            <a:ext cx="64008" cy="10789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794760"/>
            <a:ext cx="658368" cy="256032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947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207008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Data Visualisation API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41239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expose a documented REST/gRPC API allowing third-party developers to register custom sensor modules and define new 'reinfographic' rendering pipelines.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70332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703320"/>
            <a:ext cx="64008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3794760"/>
            <a:ext cx="658368" cy="2560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7947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33288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Database Integration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83480" y="41239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retrieve asset metadata (part numbers, maintenance history, schematics) from a central database via Wi-Fi/LTE within ≤ 2 seconds upon object recognition.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434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500" dirty="0">
                <a:gradFill>
                  <a:gsLst>
                    <a:gs pos="65000">
                      <a:schemeClr val="accent2">
                        <a:lumMod val="75000"/>
                      </a:schemeClr>
                    </a:gs>
                    <a:gs pos="81000">
                      <a:schemeClr val="accent4">
                        <a:lumMod val="60000"/>
                        <a:lumOff val="40000"/>
                      </a:schemeClr>
                    </a:gs>
                    <a:gs pos="46000">
                      <a:schemeClr val="accent4">
                        <a:lumMod val="7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 that govern HOW the system performs — the engineering constraints and standards it must meet.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4206240" cy="338328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380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380744"/>
            <a:ext cx="82296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3807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71907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Scan-to-projection pipeline latency: ≤ 100 ms end-to-end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0253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193852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frame rate: ≥ 30 fps sustained; ≥ 60 fps target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2199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15798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recognition response: ≤ 500 ms from trigger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325880"/>
            <a:ext cx="4206240" cy="338328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1380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Availability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380744"/>
            <a:ext cx="822960" cy="2377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3807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83480" y="1783080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71907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(Mean Time Between Failures): ≥ 500 operating hours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2002536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93852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device must continue projecting if DB connection fails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2221992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15798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fault detection and user alert within 200 ms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51460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514600"/>
            <a:ext cx="4206240" cy="338328"/>
          </a:xfrm>
          <a:prstGeom prst="rect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>
                <a:alpha val="2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2569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&amp; Durability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11880" y="2569464"/>
            <a:ext cx="822960" cy="2377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25694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97180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290779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IP54 rated enclosure: dust and splash resistant for field use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19125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31272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temperature range: −10°C to +55°C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41071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334670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resistance: survive 1.2 m drop onto concrete (MIL-STD-810)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251460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514600"/>
            <a:ext cx="4206240" cy="338328"/>
          </a:xfrm>
          <a:prstGeom prst="rect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>
                <a:alpha val="2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57800" y="2569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38160" y="2569464"/>
            <a:ext cx="822960" cy="23774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25694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983480" y="2971800"/>
            <a:ext cx="91440" cy="914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38928" y="290779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user must reach operational proficiency within ≤ 15 minutes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83480" y="3191256"/>
            <a:ext cx="91440" cy="914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31272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must conform to WCAG 2.1 AA contrast ratio standards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83480" y="3410712"/>
            <a:ext cx="91440" cy="914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38928" y="334670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Single-handed operable interface — no two-hand interaction required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70332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3703320"/>
            <a:ext cx="4206240" cy="338328"/>
          </a:xfrm>
          <a:prstGeom prst="rect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22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31520" y="3758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11880" y="3758184"/>
            <a:ext cx="822960" cy="2377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11880" y="37581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16052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" y="4096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transmissions encrypted via TLS 1.3 or higher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437997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" y="431596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updates must be cryptographically signed (RSA-2048)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599432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2648" y="453542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sensor data must not persist beyond the active session by default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46320" y="3703320"/>
            <a:ext cx="4206240" cy="1078992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46320" y="3703320"/>
            <a:ext cx="4206240" cy="338328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94A3B8">
                <a:alpha val="22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37760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257800" y="3758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&amp; Scalability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138160" y="3758184"/>
            <a:ext cx="822960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38160" y="37581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983480" y="416052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38928" y="4096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must achieve ≥ 80% unit test coverage (CS Engine modules)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983480" y="4379976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38928" y="431596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 modules must be integrable without core firmware changes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983480" y="45994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38928" y="453542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 enforced; v1 endpoints supported for ≥ 24 months after v2 release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00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 kern="0" spc="500" dirty="0">
                <a:gradFill>
                  <a:gsLst>
                    <a:gs pos="65000">
                      <a:schemeClr val="accent2">
                        <a:lumMod val="75000"/>
                      </a:schemeClr>
                    </a:gs>
                    <a:gs pos="81000">
                      <a:schemeClr val="accent4">
                        <a:lumMod val="60000"/>
                        <a:lumOff val="40000"/>
                      </a:schemeClr>
                    </a:gs>
                    <a:gs pos="46000">
                      <a:schemeClr val="accent4">
                        <a:lumMod val="7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01</a:t>
            </a:r>
          </a:p>
        </p:txBody>
      </p:sp>
      <p:sp>
        <p:nvSpPr>
          <p:cNvPr id="5" name="Shape 3"/>
          <p:cNvSpPr/>
          <p:nvPr/>
        </p:nvSpPr>
        <p:spPr>
          <a:xfrm>
            <a:off x="5074920" y="480060"/>
            <a:ext cx="3749040" cy="41071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7086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🏭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5257800" y="1943862"/>
            <a:ext cx="33832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20482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THERMAL OVERLAY ACTIVE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2459736"/>
            <a:ext cx="3383280" cy="960120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257800" y="25283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#7B  |  TEMP: 247°C  ⚠️ CRITICAL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30083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Part: TRB-2201-A  |  Last service: 47 days ago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57800" y="3465576"/>
            <a:ext cx="338328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5257800" y="3511296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Schematic overlay with maintenance history fetched from central database automatically.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&amp; Scan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1097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points LUMINAR at a complex engine or industrial system.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Thermal Projection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4420" y="2286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Device projects a live thermal heat map—overheating components glow bright red instantly.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Overlay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520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press switches to part numbers, maintenance history, and service records.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9624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500" dirty="0">
                <a:gradFill>
                  <a:gsLst>
                    <a:gs pos="100000">
                      <a:schemeClr val="accent2">
                        <a:lumMod val="60000"/>
                        <a:lumOff val="40000"/>
                      </a:schemeClr>
                    </a:gs>
                    <a:gs pos="57000">
                      <a:schemeClr val="accent2">
                        <a:lumMod val="50000"/>
                      </a:schemeClr>
                    </a:gs>
                    <a:gs pos="33000">
                      <a:schemeClr val="accent2">
                        <a:lumMod val="40000"/>
                        <a:lumOff val="60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02</a:t>
            </a:r>
          </a:p>
        </p:txBody>
      </p:sp>
      <p:sp>
        <p:nvSpPr>
          <p:cNvPr id="5" name="Shape 3"/>
          <p:cNvSpPr/>
          <p:nvPr/>
        </p:nvSpPr>
        <p:spPr>
          <a:xfrm>
            <a:off x="5029200" y="496243"/>
            <a:ext cx="3749040" cy="4182437"/>
          </a:xfrm>
          <a:prstGeom prst="rect">
            <a:avLst/>
          </a:prstGeom>
          <a:solidFill>
            <a:srgbClr val="180A02"/>
          </a:solidFill>
          <a:ln w="25400">
            <a:solidFill>
              <a:srgbClr val="FF6B6B"/>
            </a:solidFill>
            <a:prstDash val="solid"/>
          </a:ln>
          <a:effectLst>
            <a:softEdge rad="7620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029200" y="617852"/>
            <a:ext cx="3749040" cy="130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🔥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212080" y="1868238"/>
            <a:ext cx="3383280" cy="428968"/>
          </a:xfrm>
          <a:prstGeom prst="rect">
            <a:avLst/>
          </a:prstGeom>
          <a:solidFill>
            <a:srgbClr val="3D0D02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5189220" y="1926653"/>
            <a:ext cx="3383280" cy="3217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SCAN — SMOKE PENETRATION ACTIVE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46420" y="2428802"/>
            <a:ext cx="1097280" cy="965178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646420" y="2428802"/>
            <a:ext cx="1097280" cy="857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147560" y="2563625"/>
            <a:ext cx="1188720" cy="643452"/>
          </a:xfrm>
          <a:prstGeom prst="rect">
            <a:avLst/>
          </a:prstGeom>
          <a:solidFill>
            <a:srgbClr val="180A0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488263"/>
            <a:ext cx="3383280" cy="857936"/>
          </a:xfrm>
          <a:prstGeom prst="rect">
            <a:avLst/>
          </a:prstGeom>
          <a:solidFill>
            <a:srgbClr val="0070C0">
              <a:alpha val="5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541884"/>
            <a:ext cx="3383280" cy="75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situational awareness for the entire team — critical advantage over individual thermal goggles.</a:t>
            </a:r>
            <a:endParaRPr lang="en-US" sz="1100" i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Wall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10744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Firefighter scans a wall in a smoke-filled room with LUMINAR.</a:t>
            </a:r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Through Smoke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331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Thermal image projected onto the wall reveals structural hotspots and victim locations on the other side.</a:t>
            </a:r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Team 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4823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Entire team sees the same projection—superior shared awareness vs. individual thermal goggles.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48076FDC-4F76-DA23-E90D-B0A378364F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4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4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40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500" dirty="0">
                <a:gradFill>
                  <a:gsLst>
                    <a:gs pos="56000">
                      <a:srgbClr val="92D050"/>
                    </a:gs>
                    <a:gs pos="19000">
                      <a:srgbClr val="00B050"/>
                    </a:gs>
                    <a:gs pos="69000">
                      <a:schemeClr val="accent1">
                        <a:lumMod val="60000"/>
                        <a:lumOff val="40000"/>
                      </a:schemeClr>
                    </a:gs>
                    <a:gs pos="80000">
                      <a:schemeClr val="accent6">
                        <a:lumMod val="50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technology is a platform. The primary sensor is modular; software is extensible via API.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1554480"/>
          </a:xfrm>
          <a:prstGeom prst="rect">
            <a:avLst/>
          </a:prstGeom>
          <a:solidFill>
            <a:schemeClr val="bg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0" cy="155448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🏗️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93395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blueprints and structural integrity scans onto buildings in real scale.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23360" cy="1554480"/>
          </a:xfrm>
          <a:prstGeom prst="rect">
            <a:avLst/>
          </a:prstGeom>
          <a:solidFill>
            <a:schemeClr val="bg1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08760"/>
            <a:ext cx="914400" cy="1554480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193395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Scan a pallet and project contents, routing, and destination onto boxes.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023360" cy="1554480"/>
          </a:xfrm>
          <a:prstGeom prst="rect">
            <a:avLst/>
          </a:prstGeom>
          <a:solidFill>
            <a:schemeClr val="bg1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46120"/>
            <a:ext cx="914400" cy="1554480"/>
          </a:xfrm>
          <a:prstGeom prst="rect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67131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customer reviews and live product information directly onto shelf space.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4023360" cy="1554480"/>
          </a:xfrm>
          <a:prstGeom prst="rect">
            <a:avLst/>
          </a:prstGeom>
          <a:solidFill>
            <a:schemeClr val="bg1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246120"/>
            <a:ext cx="914400" cy="155448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24612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Medical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60720" y="367131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anatomical diagrams onto training manikins for immersive learning.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94760" y="2779776"/>
            <a:ext cx="1554480" cy="5943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6C63FF"/>
            </a:solidFill>
            <a:prstDash val="solid"/>
          </a:ln>
          <a:effectLst>
            <a:softEdge rad="2540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3794760" y="27660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98711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500" dirty="0">
                <a:gradFill>
                  <a:gsLst>
                    <a:gs pos="65000">
                      <a:schemeClr val="accent2">
                        <a:lumMod val="75000"/>
                      </a:schemeClr>
                    </a:gs>
                    <a:gs pos="81000">
                      <a:schemeClr val="accent4">
                        <a:lumMod val="60000"/>
                        <a:lumOff val="40000"/>
                      </a:schemeClr>
                    </a:gs>
                    <a:gs pos="46000">
                      <a:schemeClr val="accent4">
                        <a:lumMod val="7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1371600"/>
          </a:xfrm>
          <a:prstGeom prst="rect">
            <a:avLst/>
          </a:prstGeom>
          <a:solidFill>
            <a:schemeClr val="bg1"/>
          </a:solidFill>
          <a:ln w="41275">
            <a:solidFill>
              <a:schemeClr val="accent4">
                <a:lumMod val="75000"/>
              </a:schemeClr>
            </a:solidFill>
            <a:prstDash val="solid"/>
          </a:ln>
          <a:effectLst>
            <a:softEdge rad="25400"/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$70B+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Enterprise Market by 2027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57553" y="4598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07133" y="43129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by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0" y="68733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Unlike isolating headsets, LUMINAR creates a shared view for entire teams.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9933" y="1197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80460" y="1137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</a:t>
            </a:r>
          </a:p>
        </p:txBody>
      </p:sp>
      <p:sp>
        <p:nvSpPr>
          <p:cNvPr id="13" name="Text 11"/>
          <p:cNvSpPr/>
          <p:nvPr/>
        </p:nvSpPr>
        <p:spPr>
          <a:xfrm>
            <a:off x="3810000" y="13937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wearables, no complex setup. Point and see — instant insight.</a:t>
            </a:r>
          </a:p>
        </p:txBody>
      </p:sp>
      <p:sp>
        <p:nvSpPr>
          <p:cNvPr id="14" name="Text 12"/>
          <p:cNvSpPr/>
          <p:nvPr/>
        </p:nvSpPr>
        <p:spPr>
          <a:xfrm>
            <a:off x="3257553" y="18413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80460" y="1803285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</a:p>
        </p:txBody>
      </p:sp>
      <p:sp>
        <p:nvSpPr>
          <p:cNvPr id="16" name="Text 14"/>
          <p:cNvSpPr/>
          <p:nvPr/>
        </p:nvSpPr>
        <p:spPr>
          <a:xfrm>
            <a:off x="3779520" y="2021985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Lower BOM and simpler design than high-end AR glasses.</a:t>
            </a:r>
          </a:p>
        </p:txBody>
      </p:sp>
      <p:sp>
        <p:nvSpPr>
          <p:cNvPr id="17" name="Text 15"/>
          <p:cNvSpPr/>
          <p:nvPr/>
        </p:nvSpPr>
        <p:spPr>
          <a:xfrm>
            <a:off x="3257553" y="25191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80460" y="2456669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Durability</a:t>
            </a:r>
          </a:p>
        </p:txBody>
      </p:sp>
      <p:sp>
        <p:nvSpPr>
          <p:cNvPr id="19" name="Text 17"/>
          <p:cNvSpPr/>
          <p:nvPr/>
        </p:nvSpPr>
        <p:spPr>
          <a:xfrm>
            <a:off x="3779520" y="27070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rugged tool for demanding environments.</a:t>
            </a:r>
          </a:p>
        </p:txBody>
      </p:sp>
      <p:sp>
        <p:nvSpPr>
          <p:cNvPr id="20" name="Shape 18"/>
          <p:cNvSpPr/>
          <p:nvPr/>
        </p:nvSpPr>
        <p:spPr>
          <a:xfrm>
            <a:off x="274320" y="3300984"/>
            <a:ext cx="8503920" cy="172821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  <a:prstDash val="solid"/>
          </a:ln>
          <a:effectLst>
            <a:softEdge rad="25400"/>
          </a:effectLst>
        </p:spPr>
      </p:sp>
      <p:sp>
        <p:nvSpPr>
          <p:cNvPr id="21" name="Shape 19"/>
          <p:cNvSpPr/>
          <p:nvPr/>
        </p:nvSpPr>
        <p:spPr>
          <a:xfrm>
            <a:off x="4572000" y="3317750"/>
            <a:ext cx="0" cy="171145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274320" y="4213858"/>
            <a:ext cx="8503920" cy="25909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87680" y="3334856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← Individual Use    Collaborative Use 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7" y="3561588"/>
            <a:ext cx="3467093" cy="496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Screen-Bound</a:t>
            </a:r>
          </a:p>
        </p:txBody>
      </p:sp>
      <p:sp>
        <p:nvSpPr>
          <p:cNvPr id="25" name="Text 23"/>
          <p:cNvSpPr/>
          <p:nvPr/>
        </p:nvSpPr>
        <p:spPr>
          <a:xfrm>
            <a:off x="274320" y="4362455"/>
            <a:ext cx="2796524" cy="525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World-Integrated</a:t>
            </a:r>
          </a:p>
        </p:txBody>
      </p:sp>
      <p:sp>
        <p:nvSpPr>
          <p:cNvPr id="26" name="Text 24"/>
          <p:cNvSpPr/>
          <p:nvPr/>
        </p:nvSpPr>
        <p:spPr>
          <a:xfrm>
            <a:off x="3223260" y="3610359"/>
            <a:ext cx="1371600" cy="42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Tablets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0" y="36734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🥽 AR Headsets</a:t>
            </a:r>
          </a:p>
        </p:txBody>
      </p:sp>
      <p:sp>
        <p:nvSpPr>
          <p:cNvPr id="28" name="Shape 26"/>
          <p:cNvSpPr/>
          <p:nvPr/>
        </p:nvSpPr>
        <p:spPr>
          <a:xfrm>
            <a:off x="3364233" y="4485132"/>
            <a:ext cx="2598413" cy="42214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6C63FF"/>
            </a:solidFill>
            <a:prstDash val="solid"/>
          </a:ln>
          <a:effectLst>
            <a:softEdge rad="12700"/>
          </a:effectLst>
        </p:spPr>
      </p:sp>
      <p:sp>
        <p:nvSpPr>
          <p:cNvPr id="29" name="Text 27"/>
          <p:cNvSpPr/>
          <p:nvPr/>
        </p:nvSpPr>
        <p:spPr>
          <a:xfrm>
            <a:off x="3364232" y="4485132"/>
            <a:ext cx="2598413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LUMINAR</a:t>
            </a:r>
            <a:endParaRPr lang="en-US" sz="140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CCC15B30-42D5-8ED7-C542-F6349C894B73}"/>
              </a:ext>
            </a:extLst>
          </p:cNvPr>
          <p:cNvSpPr/>
          <p:nvPr/>
        </p:nvSpPr>
        <p:spPr>
          <a:xfrm flipV="1">
            <a:off x="3185161" y="177199"/>
            <a:ext cx="45719" cy="3001097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 kern="0" spc="500" dirty="0">
                <a:gradFill>
                  <a:gsLst>
                    <a:gs pos="42000">
                      <a:srgbClr val="6C63FF"/>
                    </a:gs>
                    <a:gs pos="69000">
                      <a:srgbClr val="7030A0"/>
                    </a:gs>
                    <a:gs pos="80000">
                      <a:schemeClr val="tx1">
                        <a:lumMod val="95000"/>
                        <a:lumOff val="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</a:p>
        </p:txBody>
      </p:sp>
      <p:sp>
        <p:nvSpPr>
          <p:cNvPr id="5" name="Shape 3"/>
          <p:cNvSpPr/>
          <p:nvPr/>
        </p:nvSpPr>
        <p:spPr>
          <a:xfrm>
            <a:off x="228600" y="1088136"/>
            <a:ext cx="4206240" cy="1097280"/>
          </a:xfrm>
          <a:prstGeom prst="rect">
            <a:avLst/>
          </a:prstGeom>
          <a:solidFill>
            <a:schemeClr val="bg1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88136"/>
            <a:ext cx="685800" cy="109728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88136"/>
            <a:ext cx="685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1197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/ Manager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Guides vision, manages agile sprints, clears roadblocks.</a:t>
            </a:r>
          </a:p>
        </p:txBody>
      </p:sp>
      <p:sp>
        <p:nvSpPr>
          <p:cNvPr id="10" name="Shape 8"/>
          <p:cNvSpPr/>
          <p:nvPr/>
        </p:nvSpPr>
        <p:spPr>
          <a:xfrm>
            <a:off x="4709160" y="1088136"/>
            <a:ext cx="4206240" cy="1097280"/>
          </a:xfrm>
          <a:prstGeom prst="rect">
            <a:avLst/>
          </a:prstGeom>
          <a:solidFill>
            <a:schemeClr val="bg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88136"/>
            <a:ext cx="685800" cy="109728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88136"/>
            <a:ext cx="685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1197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Embedded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490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Designs PCB, sensor integration, and power management — architects of the physical product.</a:t>
            </a:r>
          </a:p>
        </p:txBody>
      </p:sp>
      <p:sp>
        <p:nvSpPr>
          <p:cNvPr id="15" name="Shape 13"/>
          <p:cNvSpPr/>
          <p:nvPr/>
        </p:nvSpPr>
        <p:spPr>
          <a:xfrm>
            <a:off x="228600" y="2322576"/>
            <a:ext cx="4206240" cy="1097280"/>
          </a:xfrm>
          <a:prstGeom prst="rect">
            <a:avLst/>
          </a:prstGeom>
          <a:solidFill>
            <a:schemeClr val="bg1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322576"/>
            <a:ext cx="685800" cy="1097280"/>
          </a:xfrm>
          <a:prstGeom prst="rect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322576"/>
            <a:ext cx="685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24323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7249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Builds OS, data pipelines, and critical projection mapping algorithms — the 'brains.'</a:t>
            </a:r>
          </a:p>
        </p:txBody>
      </p:sp>
      <p:sp>
        <p:nvSpPr>
          <p:cNvPr id="20" name="Shape 18"/>
          <p:cNvSpPr/>
          <p:nvPr/>
        </p:nvSpPr>
        <p:spPr>
          <a:xfrm>
            <a:off x="4709160" y="2322576"/>
            <a:ext cx="4206240" cy="1097280"/>
          </a:xfrm>
          <a:prstGeom prst="rect">
            <a:avLst/>
          </a:prstGeom>
          <a:solidFill>
            <a:schemeClr val="bg1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22576"/>
            <a:ext cx="685800" cy="1097280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322576"/>
            <a:ext cx="685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24323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ML Engineers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7249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Develops perception, object recognition, sensor fusion. Teaches the device to 'see.'</a:t>
            </a:r>
          </a:p>
        </p:txBody>
      </p:sp>
      <p:sp>
        <p:nvSpPr>
          <p:cNvPr id="25" name="Shape 23"/>
          <p:cNvSpPr/>
          <p:nvPr/>
        </p:nvSpPr>
        <p:spPr>
          <a:xfrm>
            <a:off x="228600" y="3557016"/>
            <a:ext cx="4206240" cy="1097280"/>
          </a:xfrm>
          <a:prstGeom prst="rect">
            <a:avLst/>
          </a:prstGeom>
          <a:solidFill>
            <a:schemeClr val="bg1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557016"/>
            <a:ext cx="685800" cy="1097280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557016"/>
            <a:ext cx="685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005840" y="36667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Graphics &amp; UI/UX Engineers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9593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Designs 'reinfographics' ensuring projected data is intuitive and interactive.</a:t>
            </a:r>
          </a:p>
        </p:txBody>
      </p:sp>
      <p:sp>
        <p:nvSpPr>
          <p:cNvPr id="30" name="Shape 28"/>
          <p:cNvSpPr/>
          <p:nvPr/>
        </p:nvSpPr>
        <p:spPr>
          <a:xfrm>
            <a:off x="4709160" y="3557016"/>
            <a:ext cx="4206240" cy="1097280"/>
          </a:xfrm>
          <a:prstGeom prst="rect">
            <a:avLst/>
          </a:prstGeom>
          <a:solidFill>
            <a:schemeClr val="bg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557016"/>
            <a:ext cx="685800" cy="10972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557016"/>
            <a:ext cx="685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486400" y="36667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 Engineers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39593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Builds automated and manual testing frameworks for reliability, accuracy, and durability.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4526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500" dirty="0">
                <a:gradFill>
                  <a:gsLst>
                    <a:gs pos="42000">
                      <a:srgbClr val="6C63FF"/>
                    </a:gs>
                    <a:gs pos="69000">
                      <a:schemeClr val="accent1">
                        <a:lumMod val="60000"/>
                        <a:lumOff val="40000"/>
                      </a:schemeClr>
                    </a:gs>
                    <a:gs pos="80000">
                      <a:srgbClr val="0070C0"/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1691640"/>
          </a:xfrm>
          <a:prstGeom prst="rect">
            <a:avLst/>
          </a:prstGeom>
          <a:solidFill>
            <a:schemeClr val="bg1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206240" cy="347472"/>
          </a:xfrm>
          <a:prstGeom prst="rect">
            <a:avLst/>
          </a:prstGeom>
          <a:solidFill>
            <a:srgbClr val="6C63FF">
              <a:alpha val="80000"/>
            </a:srgbClr>
          </a:solidFill>
          <a:ln w="12700">
            <a:solidFill>
              <a:schemeClr val="tx1">
                <a:alpha val="8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Geometry Problem</a:t>
            </a:r>
            <a:endParaRPr lang="en-US" sz="1400" b="1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1097280" cy="256032"/>
          </a:xfrm>
          <a:prstGeom prst="rect">
            <a:avLst/>
          </a:prstGeom>
          <a:solidFill>
            <a:srgbClr val="6C63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34440"/>
            <a:ext cx="1097280" cy="256032"/>
          </a:xfrm>
          <a:prstGeom prst="rect">
            <a:avLst/>
          </a:prstGeom>
          <a:effectLst>
            <a:softEdge rad="12700"/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Graphics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475488" y="1627632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projection mapping onto arbitrary, non-flat surfaces requires keystone correction, distortion mapping, and focus adjustment — a pure computational geometry challenge.</a:t>
            </a:r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206240" cy="1691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88720"/>
            <a:ext cx="4206240" cy="34747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chemeClr val="tx1">
                <a:alpha val="85000"/>
              </a:scheme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Speed Problem</a:t>
            </a:r>
          </a:p>
        </p:txBody>
      </p:sp>
      <p:sp>
        <p:nvSpPr>
          <p:cNvPr id="14" name="Shape 12"/>
          <p:cNvSpPr/>
          <p:nvPr/>
        </p:nvSpPr>
        <p:spPr>
          <a:xfrm>
            <a:off x="7863840" y="1234440"/>
            <a:ext cx="1097280" cy="256032"/>
          </a:xfrm>
          <a:prstGeom prst="rect">
            <a:avLst/>
          </a:prstGeom>
          <a:solidFill>
            <a:srgbClr val="00D4FF"/>
          </a:solidFill>
          <a:ln w="25400">
            <a:solidFill>
              <a:schemeClr val="tx1"/>
            </a:solidFill>
            <a:prstDash val="solid"/>
          </a:ln>
          <a:effectLst>
            <a:softEdge rad="12700"/>
          </a:effectLst>
        </p:spPr>
      </p:sp>
      <p:sp>
        <p:nvSpPr>
          <p:cNvPr id="15" name="Text 13"/>
          <p:cNvSpPr/>
          <p:nvPr/>
        </p:nvSpPr>
        <p:spPr>
          <a:xfrm>
            <a:off x="7863840" y="1234440"/>
            <a:ext cx="1097280" cy="256032"/>
          </a:xfrm>
          <a:prstGeom prst="rect">
            <a:avLst/>
          </a:prstGeom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Embedded</a:t>
            </a:r>
            <a:endParaRPr lang="en-US" sz="1100" b="1" dirty="0"/>
          </a:p>
        </p:txBody>
      </p:sp>
      <p:sp>
        <p:nvSpPr>
          <p:cNvPr id="16" name="Text 14"/>
          <p:cNvSpPr/>
          <p:nvPr/>
        </p:nvSpPr>
        <p:spPr>
          <a:xfrm>
            <a:off x="4956048" y="1627632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massive LiDAR point-clouds and high-framerate thermal video with sub-second latency demands deep knowledge of data structures, memory management, and C++/GPU programming.</a:t>
            </a:r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206240" cy="1691640"/>
          </a:xfrm>
          <a:prstGeom prst="rect">
            <a:avLst/>
          </a:prstGeom>
          <a:solidFill>
            <a:schemeClr val="bg1"/>
          </a:solidFill>
          <a:ln w="19050">
            <a:solidFill>
              <a:srgbClr val="FFF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17520"/>
            <a:ext cx="4206240" cy="34747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chemeClr val="tx1">
                <a:alpha val="85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17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Problem</a:t>
            </a:r>
          </a:p>
        </p:txBody>
      </p:sp>
      <p:sp>
        <p:nvSpPr>
          <p:cNvPr id="20" name="Shape 18"/>
          <p:cNvSpPr/>
          <p:nvPr/>
        </p:nvSpPr>
        <p:spPr>
          <a:xfrm>
            <a:off x="3383280" y="3063240"/>
            <a:ext cx="1097280" cy="256032"/>
          </a:xfrm>
          <a:prstGeom prst="rect">
            <a:avLst/>
          </a:prstGeom>
          <a:solidFill>
            <a:srgbClr val="FFD166"/>
          </a:solidFill>
          <a:ln w="25400">
            <a:solidFill>
              <a:schemeClr val="tx1"/>
            </a:solidFill>
            <a:prstDash val="solid"/>
          </a:ln>
          <a:effectLst>
            <a:softEdge rad="12700"/>
          </a:effectLst>
        </p:spPr>
      </p:sp>
      <p:sp>
        <p:nvSpPr>
          <p:cNvPr id="21" name="Text 19"/>
          <p:cNvSpPr/>
          <p:nvPr/>
        </p:nvSpPr>
        <p:spPr>
          <a:xfrm>
            <a:off x="3383280" y="3063240"/>
            <a:ext cx="1097280" cy="256032"/>
          </a:xfrm>
          <a:prstGeom prst="rect">
            <a:avLst/>
          </a:prstGeom>
          <a:noFill/>
          <a:ln/>
          <a:effectLst>
            <a:softEdge rad="0"/>
          </a:effectLst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Systems</a:t>
            </a:r>
          </a:p>
        </p:txBody>
      </p:sp>
      <p:sp>
        <p:nvSpPr>
          <p:cNvPr id="22" name="Text 20"/>
          <p:cNvSpPr/>
          <p:nvPr/>
        </p:nvSpPr>
        <p:spPr>
          <a:xfrm>
            <a:off x="475488" y="3456432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stable, low-level firmware and OS that allows sensors, processor, and projector to communicate without bottlenecks is fundamental systems engineering.</a:t>
            </a:r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4206240" cy="1691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017520"/>
            <a:ext cx="4206240" cy="347472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chemeClr val="tx1">
                <a:alpha val="8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4956048" y="3017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Scalability Problem</a:t>
            </a:r>
          </a:p>
        </p:txBody>
      </p:sp>
      <p:sp>
        <p:nvSpPr>
          <p:cNvPr id="26" name="Shape 24"/>
          <p:cNvSpPr/>
          <p:nvPr/>
        </p:nvSpPr>
        <p:spPr>
          <a:xfrm>
            <a:off x="7863840" y="3063240"/>
            <a:ext cx="1097280" cy="256032"/>
          </a:xfrm>
          <a:prstGeom prst="rect">
            <a:avLst/>
          </a:prstGeom>
        </p:spPr>
      </p:sp>
      <p:sp>
        <p:nvSpPr>
          <p:cNvPr id="27" name="Text 25"/>
          <p:cNvSpPr/>
          <p:nvPr/>
        </p:nvSpPr>
        <p:spPr>
          <a:xfrm>
            <a:off x="7863840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API Design</a:t>
            </a:r>
            <a:endParaRPr lang="en-US" sz="1100" b="1" dirty="0"/>
          </a:p>
        </p:txBody>
      </p:sp>
      <p:sp>
        <p:nvSpPr>
          <p:cNvPr id="28" name="Text 26"/>
          <p:cNvSpPr/>
          <p:nvPr/>
        </p:nvSpPr>
        <p:spPr>
          <a:xfrm>
            <a:off x="4956048" y="3456432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robust API is essential for our platform vision — enabling future developers to create 'reinfographic apps' for new sensors and use cases.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4983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 kern="0" spc="500" dirty="0">
                <a:gradFill>
                  <a:gsLst>
                    <a:gs pos="90000">
                      <a:schemeClr val="accent2">
                        <a:lumMod val="50000"/>
                      </a:schemeClr>
                    </a:gs>
                    <a:gs pos="55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7000">
                      <a:schemeClr val="accent2">
                        <a:lumMod val="60000"/>
                        <a:lumOff val="40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assess risks based on Likelihood and Impact to prioritize mitigation efforts.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4096512"/>
            <a:ext cx="1097280" cy="658368"/>
          </a:xfrm>
          <a:prstGeom prst="rect">
            <a:avLst/>
          </a:prstGeom>
          <a:solidFill>
            <a:srgbClr val="1A3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4096512"/>
            <a:ext cx="1097280" cy="658368"/>
          </a:xfrm>
          <a:prstGeom prst="rect">
            <a:avLst/>
          </a:prstGeom>
          <a:solidFill>
            <a:srgbClr val="2A4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4096512"/>
            <a:ext cx="1097280" cy="658368"/>
          </a:xfrm>
          <a:prstGeom prst="rect">
            <a:avLst/>
          </a:prstGeom>
          <a:solidFill>
            <a:srgbClr val="2A4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096512"/>
            <a:ext cx="1097280" cy="658368"/>
          </a:xfrm>
          <a:prstGeom prst="rect">
            <a:avLst/>
          </a:prstGeom>
          <a:solidFill>
            <a:srgbClr val="4A5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4096512"/>
            <a:ext cx="1097280" cy="658368"/>
          </a:xfrm>
          <a:prstGeom prst="rect">
            <a:avLst/>
          </a:prstGeom>
          <a:solidFill>
            <a:srgbClr val="6B7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438144"/>
            <a:ext cx="1097280" cy="658368"/>
          </a:xfrm>
          <a:prstGeom prst="rect">
            <a:avLst/>
          </a:prstGeom>
          <a:solidFill>
            <a:srgbClr val="1A3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3438144"/>
            <a:ext cx="1097280" cy="658368"/>
          </a:xfrm>
          <a:prstGeom prst="rect">
            <a:avLst/>
          </a:prstGeom>
          <a:solidFill>
            <a:srgbClr val="2A4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3438144"/>
            <a:ext cx="1097280" cy="658368"/>
          </a:xfrm>
          <a:prstGeom prst="rect">
            <a:avLst/>
          </a:prstGeom>
          <a:solidFill>
            <a:srgbClr val="4A5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3438144"/>
            <a:ext cx="1097280" cy="658368"/>
          </a:xfrm>
          <a:prstGeom prst="rect">
            <a:avLst/>
          </a:prstGeom>
          <a:solidFill>
            <a:srgbClr val="6B7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3438144"/>
            <a:ext cx="1097280" cy="658368"/>
          </a:xfrm>
          <a:prstGeom prst="rect">
            <a:avLst/>
          </a:prstGeom>
          <a:solidFill>
            <a:srgbClr val="8B6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779776"/>
            <a:ext cx="1097280" cy="658368"/>
          </a:xfrm>
          <a:prstGeom prst="rect">
            <a:avLst/>
          </a:prstGeom>
          <a:solidFill>
            <a:srgbClr val="2A4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779776"/>
            <a:ext cx="1097280" cy="658368"/>
          </a:xfrm>
          <a:prstGeom prst="rect">
            <a:avLst/>
          </a:prstGeom>
          <a:solidFill>
            <a:srgbClr val="4A5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779776"/>
            <a:ext cx="1097280" cy="658368"/>
          </a:xfrm>
          <a:prstGeom prst="rect">
            <a:avLst/>
          </a:prstGeom>
          <a:solidFill>
            <a:srgbClr val="6B7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2779776"/>
            <a:ext cx="1097280" cy="658368"/>
          </a:xfrm>
          <a:prstGeom prst="rect">
            <a:avLst/>
          </a:prstGeom>
          <a:solidFill>
            <a:srgbClr val="8B6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779776"/>
            <a:ext cx="1097280" cy="658368"/>
          </a:xfrm>
          <a:prstGeom prst="rect">
            <a:avLst/>
          </a:prstGeom>
          <a:solidFill>
            <a:srgbClr val="8B3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121408"/>
            <a:ext cx="1097280" cy="658368"/>
          </a:xfrm>
          <a:prstGeom prst="rect">
            <a:avLst/>
          </a:prstGeom>
          <a:solidFill>
            <a:srgbClr val="2A4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2121408"/>
            <a:ext cx="1097280" cy="658368"/>
          </a:xfrm>
          <a:prstGeom prst="rect">
            <a:avLst/>
          </a:prstGeom>
          <a:solidFill>
            <a:srgbClr val="6B7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2121408"/>
            <a:ext cx="1097280" cy="658368"/>
          </a:xfrm>
          <a:prstGeom prst="rect">
            <a:avLst/>
          </a:prstGeom>
          <a:solidFill>
            <a:srgbClr val="8B6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2121408"/>
            <a:ext cx="1097280" cy="658368"/>
          </a:xfrm>
          <a:prstGeom prst="rect">
            <a:avLst/>
          </a:prstGeom>
          <a:solidFill>
            <a:srgbClr val="8B3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2121408"/>
            <a:ext cx="1097280" cy="658368"/>
          </a:xfrm>
          <a:prstGeom prst="rect">
            <a:avLst/>
          </a:prstGeom>
          <a:solidFill>
            <a:srgbClr val="9B2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1463040"/>
            <a:ext cx="1097280" cy="658368"/>
          </a:xfrm>
          <a:prstGeom prst="rect">
            <a:avLst/>
          </a:prstGeom>
          <a:solidFill>
            <a:srgbClr val="4A5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1463040"/>
            <a:ext cx="1097280" cy="658368"/>
          </a:xfrm>
          <a:prstGeom prst="rect">
            <a:avLst/>
          </a:prstGeom>
          <a:solidFill>
            <a:srgbClr val="8B6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1463040"/>
            <a:ext cx="1097280" cy="658368"/>
          </a:xfrm>
          <a:prstGeom prst="rect">
            <a:avLst/>
          </a:prstGeom>
          <a:solidFill>
            <a:srgbClr val="8B3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463040"/>
            <a:ext cx="1097280" cy="658368"/>
          </a:xfrm>
          <a:prstGeom prst="rect">
            <a:avLst/>
          </a:prstGeom>
          <a:solidFill>
            <a:srgbClr val="9B2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1463040"/>
            <a:ext cx="1097280" cy="658368"/>
          </a:xfrm>
          <a:prstGeom prst="rect">
            <a:avLst/>
          </a:prstGeom>
          <a:solidFill>
            <a:srgbClr val="AB1A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096512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3438144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277977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062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2121408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" y="146304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487244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" y="2377440"/>
            <a:ext cx="73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0" y="2304288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2560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377440" y="2304288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0" y="2560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Proj. Quality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74720" y="3621024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0" y="3877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377440" y="2962656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3218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474720" y="2962656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3218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App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0" y="2962656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0" y="3218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66560" y="1463040"/>
            <a:ext cx="2011680" cy="347472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6" name="Text 54"/>
          <p:cNvSpPr/>
          <p:nvPr/>
        </p:nvSpPr>
        <p:spPr>
          <a:xfrm>
            <a:off x="685800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RISK KEY</a:t>
            </a:r>
            <a:endParaRPr lang="en-US" sz="1200" u="sng" dirty="0"/>
          </a:p>
        </p:txBody>
      </p:sp>
      <p:sp>
        <p:nvSpPr>
          <p:cNvPr id="57" name="Shape 55"/>
          <p:cNvSpPr/>
          <p:nvPr/>
        </p:nvSpPr>
        <p:spPr>
          <a:xfrm>
            <a:off x="6858000" y="1984248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8660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58000" y="228600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86600" y="2221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Proj. Quality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58000" y="2587752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86600" y="25237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8000" y="2889504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86600" y="2825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58000" y="3191256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3127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858000" y="3493008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86600" y="3429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App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58000" y="3794760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86600" y="37307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858000" y="4096512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86600" y="40325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Cost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858000" y="4398264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86600" y="43342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4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500" dirty="0">
                <a:gradFill>
                  <a:gsLst>
                    <a:gs pos="90000">
                      <a:schemeClr val="accent2">
                        <a:lumMod val="50000"/>
                      </a:schemeClr>
                    </a:gs>
                    <a:gs pos="55000">
                      <a:schemeClr val="accent2">
                        <a:lumMod val="75000"/>
                      </a:schemeClr>
                    </a:gs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7000">
                      <a:schemeClr val="accent2">
                        <a:lumMod val="60000"/>
                        <a:lumOff val="40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DEEP DIVE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Quality in Ambient Light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109728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280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5727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Source state-of-the-art laser-based pico-projectors. Implement ambient light sensor to auto-adjust contrast and brightness in software.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45720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21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 Latency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109728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240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5328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Utilize a powerful SoC with dedicated NPUs. CS team focuses on algorithm optimization using C++ and GPU shaders. Benchmark and profile relentlessly from day one.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08960"/>
            <a:ext cx="457200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182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&amp; Calibration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3200400"/>
            <a:ext cx="109728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4400" y="34930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Develop rigorous, automated factory-level calibration for each device. CV/ML engineers implement advanced sensor fusion algorithms (e.g., Extended Kalman Filters) to maintain alignment in real-time.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69080"/>
            <a:ext cx="457200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690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142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4160520"/>
            <a:ext cx="109728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160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14400" y="44531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Design a robust power management system with user-swappable battery pack. Select energy-efficient components and implement multiple software power-saving modes.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953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500" dirty="0">
                <a:gradFill>
                  <a:gsLst>
                    <a:gs pos="65000">
                      <a:schemeClr val="accent4">
                        <a:lumMod val="60000"/>
                        <a:lumOff val="40000"/>
                      </a:schemeClr>
                    </a:gs>
                    <a:gs pos="81000">
                      <a:schemeClr val="accent4">
                        <a:lumMod val="75000"/>
                      </a:schemeClr>
                    </a:gs>
                    <a:gs pos="46000">
                      <a:schemeClr val="accent4">
                        <a:lumMod val="7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DEEP DIVE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from AR Headsets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109728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280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5727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Aggressively market key differentiators: collaboration, ease of use, and lower cost. Focus on use cases where headsets are impractical (shared-space training, quick inspections).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45720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21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'Killer App' at Launch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109728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240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5328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Laser-focus initial MVP development on the thermal imaging application for industrial/emergency services. Secure a pilot partner to co-develop features and ensure product-market fit before expanding.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08960"/>
            <a:ext cx="45720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182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3200400"/>
            <a:ext cx="109728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4400" y="34930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Strict adherence to Agile methodology with a well-defined MVP. Project Manager empowered to ruthlessly defend the roadmap and push non-essential features to V2 backlog.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4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 kern="0" spc="500" dirty="0">
                <a:gradFill>
                  <a:gsLst>
                    <a:gs pos="56000">
                      <a:srgbClr val="92D050"/>
                    </a:gs>
                    <a:gs pos="19000">
                      <a:srgbClr val="00B050"/>
                    </a:gs>
                    <a:gs pos="69000">
                      <a:schemeClr val="accent1">
                        <a:lumMod val="60000"/>
                        <a:lumOff val="40000"/>
                      </a:schemeClr>
                    </a:gs>
                    <a:gs pos="80000">
                      <a:schemeClr val="accent6">
                        <a:lumMod val="50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DEEP DIVE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Bill of Materials (BOM)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109728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280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5727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Engage in extensive component sourcing and negotiation early. Design for Manufacturing and Assembly (DFMA) from the start. Explore strategic partnerships with key component manufacturers.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45720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21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109728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240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5328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Proactively identify and qualify second-source suppliers for all critical components (SoC, LiDAR, Projector). Maintain strategic buffer inventory and build relationships with multiple distributors.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 kern="0" spc="500" dirty="0">
                <a:gradFill>
                  <a:gsLst>
                    <a:gs pos="42000">
                      <a:srgbClr val="6C63FF"/>
                    </a:gs>
                    <a:gs pos="69000">
                      <a:srgbClr val="7030A0"/>
                    </a:gs>
                    <a:gs pos="80000">
                      <a:schemeClr val="tx1">
                        <a:lumMod val="95000"/>
                        <a:lumOff val="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four-phase plan from concept to market — 18 months total.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87168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87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20116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17320"/>
            <a:ext cx="20116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087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8745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0116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718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Key Milestone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3227832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data projected onto non-flat surface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2487168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487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1417320"/>
            <a:ext cx="20116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1417320"/>
            <a:ext cx="20116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5087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Prototype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33472" y="18745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2926080"/>
            <a:ext cx="20116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9718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Key Milestone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33472" y="3227832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Alpha unit in 3D-printed enclosure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40680" y="2487168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487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417320"/>
            <a:ext cx="20116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417320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5087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 &amp; Alpha Testing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18745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20116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9718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Key Milestone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28032" y="3227832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 deployment; V2 feedback incorporated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52360" y="2487168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487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1417320"/>
            <a:ext cx="20116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141732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15087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&amp; Production Readiness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39712" y="18745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15–18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2926080"/>
            <a:ext cx="20116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9712" y="29718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Key Milestone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39712" y="3227832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golden sample; FCC/CE certified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 kern="0" spc="500" dirty="0">
                <a:gradFill>
                  <a:gsLst>
                    <a:gs pos="42000">
                      <a:srgbClr val="6C63FF"/>
                    </a:gs>
                    <a:gs pos="69000">
                      <a:schemeClr val="accent1">
                        <a:lumMod val="60000"/>
                        <a:lumOff val="40000"/>
                      </a:schemeClr>
                    </a:gs>
                    <a:gs pos="80000">
                      <a:srgbClr val="0070C0"/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1737360"/>
          </a:xfrm>
          <a:prstGeom prst="rect">
            <a:avLst/>
          </a:prstGeom>
          <a:solidFill>
            <a:schemeClr val="bg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206240" cy="320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Proof of Concept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57276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core algorithms, test sensor accuracy.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projection mapping code; build sensor fusion model; test projector brightness.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&amp; CV/ML Engineers (algorithm dev), Hardware Engineer (component integration on dev kits).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206240" cy="1737360"/>
          </a:xfrm>
          <a:prstGeom prst="rect">
            <a:avLst/>
          </a:prstGeom>
          <a:solidFill>
            <a:schemeClr val="bg1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188720"/>
            <a:ext cx="4206240" cy="3200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Engineering Prototype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572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57276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hardware design, firmware development, industrial design.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1874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32120" y="18745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layout; write low-level drivers; design ergonomic enclosure; power management system.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3212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Embedded Systems (primary), CS Engineers (porting PoC code to custom hardware).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4206240" cy="1737360"/>
          </a:xfrm>
          <a:prstGeom prst="rect">
            <a:avLst/>
          </a:prstGeom>
          <a:solidFill>
            <a:schemeClr val="bg1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63240"/>
            <a:ext cx="420624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Pilot Program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447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25880" y="34472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Stability, reliability, and user feedback integration.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3749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fixing; UI/UX refinement from field tests; build automated test suites.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" y="4206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 Engineers (primary), UI/UX &amp; Graphics Engineers, CS Engineers (feature refinement).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063240"/>
            <a:ext cx="4206240" cy="1737360"/>
          </a:xfrm>
          <a:prstGeom prst="rect">
            <a:avLst/>
          </a:prstGeom>
          <a:solidFill>
            <a:schemeClr val="bg1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063240"/>
            <a:ext cx="420624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Production Readiness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447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06440" y="34472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Manufacturing (DFM), certification, final OS hardening.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3749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32120" y="3749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BOM; pass FCC/CE testing; optimize boot time and battery life.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4206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32120" y="4206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Engineers (factory liaison), Embedded Systems Engineers (final firmware).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200" b="1" kern="0" spc="500" dirty="0">
                <a:gradFill>
                  <a:gsLst>
                    <a:gs pos="65000">
                      <a:schemeClr val="accent4">
                        <a:lumMod val="60000"/>
                        <a:lumOff val="40000"/>
                      </a:schemeClr>
                    </a:gs>
                    <a:gs pos="81000">
                      <a:schemeClr val="accent4">
                        <a:lumMod val="75000"/>
                      </a:schemeClr>
                    </a:gs>
                    <a:gs pos="46000">
                      <a:schemeClr val="accent4">
                        <a:lumMod val="7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88920" cy="1234440"/>
          </a:xfrm>
          <a:prstGeom prst="rect">
            <a:avLst/>
          </a:prstGeom>
          <a:solidFill>
            <a:schemeClr val="bg1"/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Phases 1 &amp; 2 — Proof of Concept through Engineering Prototype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267490393"/>
              </p:ext>
            </p:extLst>
          </p:nvPr>
        </p:nvGraphicFramePr>
        <p:xfrm>
          <a:off x="3962400" y="762000"/>
          <a:ext cx="4724400" cy="4175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383280"/>
            <a:ext cx="137160" cy="3200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Personnel (60%): Salaries for CS, Hardware, CV/ML engineers — our greatest asset.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4137660"/>
            <a:ext cx="137160" cy="320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41376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R&amp;D Prototyping (25%): LiDAR sensors, projectors, dev kits, PCB fabrication, 3D printing.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5349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500" dirty="0">
                <a:gradFill>
                  <a:gsLst>
                    <a:gs pos="42000">
                      <a:srgbClr val="6C63FF"/>
                    </a:gs>
                    <a:gs pos="69000">
                      <a:srgbClr val="7030A0"/>
                    </a:gs>
                    <a:gs pos="80000">
                      <a:schemeClr val="tx1">
                        <a:lumMod val="95000"/>
                        <a:lumOff val="5000"/>
                      </a:schemeClr>
                    </a:gs>
                  </a:gsLst>
                  <a:path path="rect">
                    <a:fillToRect l="100000" t="100000"/>
                  </a:path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</a:p>
        </p:txBody>
      </p:sp>
      <p:sp>
        <p:nvSpPr>
          <p:cNvPr id="5" name="Shape 3"/>
          <p:cNvSpPr/>
          <p:nvPr/>
        </p:nvSpPr>
        <p:spPr>
          <a:xfrm>
            <a:off x="1371600" y="877824"/>
            <a:ext cx="6400800" cy="1956816"/>
          </a:xfrm>
          <a:prstGeom prst="rect">
            <a:avLst/>
          </a:prstGeom>
          <a:solidFill>
            <a:srgbClr val="6C63FF">
              <a:alpha val="85000"/>
            </a:srgbClr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12928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750,000 in Seed Funding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65506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Phases 1 &amp; 2 and deliver a functional handheld Alpha prototype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651760" cy="1463040"/>
          </a:xfrm>
          <a:prstGeom prst="rect">
            <a:avLst/>
          </a:prstGeom>
          <a:solidFill>
            <a:schemeClr val="bg1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164842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79701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Core Team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Recruit the 4-person engineering team (CS, Hardware, CV/ML, Embedded Systems).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560320"/>
            <a:ext cx="2651760" cy="1463040"/>
          </a:xfrm>
          <a:prstGeom prst="rect">
            <a:avLst/>
          </a:prstGeom>
          <a:solidFill>
            <a:schemeClr val="bg1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164842"/>
            <a:ext cx="640080" cy="6400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16484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&amp; Build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9300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Acquire all necessary components and equipment for prototyping.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560320"/>
            <a:ext cx="2651760" cy="1463040"/>
          </a:xfrm>
          <a:prstGeom prst="rect">
            <a:avLst/>
          </a:prstGeom>
          <a:solidFill>
            <a:schemeClr val="bg1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2164842"/>
            <a:ext cx="640080" cy="6400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179701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in 9 Months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908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functional, handheld Alpha prototype ahead of Phase 3 pilot program.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Immediate Next Step Planned: Secure funding to begin hiring our lead Computer Science and Hardware Engineers.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13020" y="1280160"/>
            <a:ext cx="7597140" cy="6400800"/>
          </a:xfrm>
          <a:prstGeom prst="ellipse">
            <a:avLst/>
          </a:prstGeom>
          <a:solidFill>
            <a:srgbClr val="6C63FF">
              <a:alpha val="7000"/>
            </a:srgbClr>
          </a:solidFill>
          <a:ln w="12700">
            <a:solidFill>
              <a:srgbClr val="6C63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-830580" y="-1252728"/>
            <a:ext cx="5486400" cy="548640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LUMINAR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Projected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LUMINAR is more than a device — it's a new platform for interacting with data.</a:t>
            </a:r>
            <a:endParaRPr lang="en-US" sz="1300" dirty="0">
              <a:solidFill>
                <a:srgbClr val="6C63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367588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00000">
                    <a:alpha val="6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Intuitive, collaborative, and built for the real world.</a:t>
            </a:r>
            <a:endParaRPr lang="en-US" sz="1300" dirty="0">
              <a:solidFill>
                <a:srgbClr val="C00000">
                  <a:alpha val="64000"/>
                </a:srgb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405993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0000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the vision, the plan, and a clear understanding of the challenges.</a:t>
            </a:r>
            <a:endParaRPr lang="en-US" sz="1300" dirty="0">
              <a:solidFill>
                <a:srgbClr val="C00000">
                  <a:alpha val="68000"/>
                </a:srgb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0" y="4480560"/>
            <a:ext cx="4572000" cy="5029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liberating data from the screen.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how we can build this future together.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3474720"/>
            <a:ext cx="54864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LUMINAR  ·  From Vision to Viability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Seed Funding Presentation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2381</Words>
  <Application>Microsoft Office PowerPoint</Application>
  <PresentationFormat>On-screen Show (16:9)</PresentationFormat>
  <Paragraphs>422</Paragraphs>
  <Slides>24</Slides>
  <Notes>21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LUMINAR</dc:title>
  <dc:subject>PptxGenJS Presentation</dc:subject>
  <dc:creator>PptxGenJS</dc:creator>
  <cp:lastModifiedBy>Pranav varshan</cp:lastModifiedBy>
  <cp:revision>36</cp:revision>
  <dcterms:created xsi:type="dcterms:W3CDTF">2026-04-10T03:45:39Z</dcterms:created>
  <dcterms:modified xsi:type="dcterms:W3CDTF">2026-05-08T04:12:35Z</dcterms:modified>
</cp:coreProperties>
</file>